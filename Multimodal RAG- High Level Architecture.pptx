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61" r:id="rId3"/>
    <p:sldId id="262" r:id="rId4"/>
    <p:sldId id="264" r:id="rId5"/>
    <p:sldId id="260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D28F8-4FF4-4C3D-A4FC-B645EC68791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656619-D76D-43B9-8983-91FE22D805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990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4DDF-C871-418D-6FCC-DFD4C2700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2630F-2F34-FABF-A1BD-3BFE4EA0B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5546-8DE0-1144-EEC2-62EFB986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9A78F-C238-25E0-6239-733E4AB4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2A681-78F6-64E2-5F54-CEACC901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74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FE8D6-DD47-341F-14F6-1F3AAC726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DEC7-E6BF-478A-54B5-595F82176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A1D1-BAF2-D889-7A89-AFD148FF6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A054D-2049-F518-F8F5-07F19C7F9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3A51-3C24-5227-B486-AD1F90F4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73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B7847-8050-F633-A4A3-35A137EC8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33FB3-89C1-9D40-9240-BB3F4389D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38AA0-DF8C-286F-103A-691AB3FB1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DFD07-F5B7-0E73-88F5-F15613B6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937B-BDBD-EF97-CE8E-DAF0E77E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27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1722-9204-E49E-2028-B3AE1B56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32931-3C6E-D4D1-7CA6-0AF39F84D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7D047-3F09-B1DD-366D-6FB922664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2FB94-7830-6F47-4C55-2B01B26E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D7825-CD6C-52AA-72AE-C4CB3E60F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B6B7E-2C35-3865-5690-BED484C4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2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B8AE-7578-FF26-365C-B8E377B2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E5472-8C9E-1DC5-6E26-1274822A4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17E82-CA5B-DD36-3BF2-E1EB4BBE6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188DC5-4A5B-49B0-EB6F-3426AAE30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612AB8-3BC5-1136-2E89-B9C4853E6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1F94-2C01-5D58-4E2F-D83B8F743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E9F4C1-AC80-E862-BD42-386F7190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A6C7C-BB94-4B48-CDFD-D74224AF6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27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FFD2-5487-458B-2294-17971CACB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1EE73-5FD8-5AD6-9D21-493CD4A8F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CADFB-FD56-BA47-BF02-89CD333D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93195-A794-8300-4CA3-118C999A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133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26E660-BF8E-B1B5-EF49-702F366D4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C928F-E864-D7E6-4877-74D8108A9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EDFD4-D563-5374-8D57-E1A3ED42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8E23-1B07-9DA8-3786-4F57DA99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A9D06-EBF8-72A3-EA05-7F3C7B470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1CEC0-FC5D-03E7-FD1F-C36C698B5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240AF-D641-8DB6-AB98-5179D84B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B021C-5A21-1C23-0555-A0EAA8AC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29FF9-3993-C502-0903-AA4188A15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777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7612-2056-7141-0D79-1AE552A94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2CB141-012D-1B37-DE8C-7AB03A725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3549A-6336-AD50-096E-8061B0906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BB4BA-8A0A-FD0E-C0B0-6472F7D7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AED06-04A7-F76E-02AF-E10C7A2C6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B58E4-0C33-5C2C-D561-FEBE0347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34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5F3C-8BBA-D87D-C1D9-C46F43242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55422-BF45-5AF4-5BDE-AF61F5870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13D2C-BDA6-1501-D937-47CDA208A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66F22-70C1-A4F9-15D3-598272C3C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F648B-64BA-8608-1A69-D792AB3D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93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0A806-50FF-37BF-E57F-0242B489D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81628-FB86-C76C-45EE-C9216493A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76BA9-3ED6-EFD2-8DF4-B37E0A7D5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C3352-8DBF-FA3F-2A57-9006CB21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120F9-F436-A4D8-2CFB-500D4E64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54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F1A292-F041-3A0E-0D8C-B7FD8CBE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B3471-CCE3-96F1-6CFB-F492552EA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2BCFA-84C0-A18B-BDD8-5D0EC7FE6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50984-38C2-4640-9D77-045AFA1E00D7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4C21C-7E5F-8D40-7338-CB70683C8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70D1A-CE6C-07B8-07E8-426B939FE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7FDDA-53CD-4543-835B-0B80C8DEC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91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71EA-4FC8-387C-F0E9-F2BCCEDB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52" y="2103437"/>
            <a:ext cx="10515600" cy="1325563"/>
          </a:xfrm>
        </p:spPr>
        <p:txBody>
          <a:bodyPr/>
          <a:lstStyle/>
          <a:p>
            <a:r>
              <a:rPr lang="en-IN" dirty="0">
                <a:latin typeface="+mn-lt"/>
              </a:rPr>
              <a:t>Enterprise RAG Assistant – Capstone Project  </a:t>
            </a:r>
            <a:br>
              <a:rPr lang="en-IN" dirty="0">
                <a:latin typeface="+mn-lt"/>
              </a:rPr>
            </a:br>
            <a:r>
              <a:rPr lang="en-IN" sz="2800" dirty="0">
                <a:latin typeface="+mn-lt"/>
              </a:rPr>
              <a:t>Using OpenAI, </a:t>
            </a:r>
            <a:r>
              <a:rPr lang="en-IN" sz="2800" dirty="0" err="1">
                <a:latin typeface="+mn-lt"/>
              </a:rPr>
              <a:t>ChromaDB</a:t>
            </a:r>
            <a:r>
              <a:rPr lang="en-IN" sz="2800" dirty="0">
                <a:latin typeface="+mn-lt"/>
              </a:rPr>
              <a:t> &amp; LangChain </a:t>
            </a:r>
            <a:endParaRPr lang="en-IN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5146E-7BB5-232C-EAB2-327D740C2E60}"/>
              </a:ext>
            </a:extLst>
          </p:cNvPr>
          <p:cNvSpPr txBox="1"/>
          <p:nvPr/>
        </p:nvSpPr>
        <p:spPr>
          <a:xfrm>
            <a:off x="6925558" y="4392420"/>
            <a:ext cx="51352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/>
              <a:t>Team - 2 &lt;&lt; Team Name&gt;&gt;</a:t>
            </a:r>
          </a:p>
          <a:p>
            <a:pPr marL="285750" indent="-28575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800" dirty="0"/>
              <a:t>Ganesan KC</a:t>
            </a:r>
          </a:p>
          <a:p>
            <a:pPr marL="285750" indent="-28575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800" dirty="0" err="1"/>
              <a:t>Bhimreddy</a:t>
            </a:r>
            <a:r>
              <a:rPr lang="en-IN" sz="1800" dirty="0"/>
              <a:t>, Mahipal Reddy</a:t>
            </a:r>
          </a:p>
          <a:p>
            <a:pPr marL="285750" indent="-28575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800" dirty="0"/>
              <a:t>Gupta, Mansi</a:t>
            </a:r>
          </a:p>
          <a:p>
            <a:pPr marL="285750" indent="-28575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800" dirty="0"/>
              <a:t>Manoharan, Shyamala </a:t>
            </a:r>
          </a:p>
          <a:p>
            <a:pPr marL="285750" indent="-28575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sz="1800" dirty="0"/>
              <a:t>Sethuraman, Rekha  </a:t>
            </a:r>
          </a:p>
        </p:txBody>
      </p:sp>
    </p:spTree>
    <p:extLst>
      <p:ext uri="{BB962C8B-B14F-4D97-AF65-F5344CB8AC3E}">
        <p14:creationId xmlns:p14="http://schemas.microsoft.com/office/powerpoint/2010/main" val="150751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A580-E95D-3032-1517-F6355A2F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92" y="186016"/>
            <a:ext cx="10515600" cy="1325563"/>
          </a:xfrm>
        </p:spPr>
        <p:txBody>
          <a:bodyPr/>
          <a:lstStyle/>
          <a:p>
            <a:r>
              <a:rPr lang="en-IN"/>
              <a:t>Agenda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D7523F-133E-A009-C22A-4B91A46325F2}"/>
              </a:ext>
            </a:extLst>
          </p:cNvPr>
          <p:cNvSpPr txBox="1"/>
          <p:nvPr/>
        </p:nvSpPr>
        <p:spPr>
          <a:xfrm>
            <a:off x="527901" y="1622063"/>
            <a:ext cx="10961015" cy="3613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High Level Architecture  - Explain in Presentation </a:t>
            </a:r>
            <a:r>
              <a:rPr lang="en-IN" dirty="0">
                <a:highlight>
                  <a:srgbClr val="FFFF00"/>
                </a:highlight>
              </a:rPr>
              <a:t>( Rekha) 2-3 mins</a:t>
            </a:r>
          </a:p>
          <a:p>
            <a:pPr>
              <a:lnSpc>
                <a:spcPct val="200000"/>
              </a:lnSpc>
            </a:pPr>
            <a:r>
              <a:rPr lang="en-IN" dirty="0"/>
              <a:t>1️⃣ “How documents enter the system” - Document Ingestion &amp; Pre-Processing till chunking </a:t>
            </a:r>
            <a:r>
              <a:rPr lang="en-IN" dirty="0">
                <a:highlight>
                  <a:srgbClr val="FFFF00"/>
                </a:highlight>
              </a:rPr>
              <a:t>(Ganesh) 5 mins</a:t>
            </a:r>
          </a:p>
          <a:p>
            <a:pPr>
              <a:lnSpc>
                <a:spcPct val="200000"/>
              </a:lnSpc>
            </a:pPr>
            <a:r>
              <a:rPr lang="en-IN" dirty="0"/>
              <a:t>2️⃣ “How documents become vectors” - Embeddings &amp; Vector Database (</a:t>
            </a:r>
            <a:r>
              <a:rPr lang="en-IN" dirty="0" err="1"/>
              <a:t>ChromaDB</a:t>
            </a:r>
            <a:r>
              <a:rPr lang="en-IN" dirty="0"/>
              <a:t>) </a:t>
            </a:r>
            <a:r>
              <a:rPr lang="en-IN" dirty="0">
                <a:highlight>
                  <a:srgbClr val="FFFF00"/>
                </a:highlight>
              </a:rPr>
              <a:t>(</a:t>
            </a:r>
            <a:r>
              <a:rPr lang="en-IN" dirty="0" err="1">
                <a:highlight>
                  <a:srgbClr val="FFFF00"/>
                </a:highlight>
              </a:rPr>
              <a:t>Shymala</a:t>
            </a:r>
            <a:r>
              <a:rPr lang="en-IN" dirty="0">
                <a:highlight>
                  <a:srgbClr val="FFFF00"/>
                </a:highlight>
              </a:rPr>
              <a:t>) 5mins</a:t>
            </a:r>
          </a:p>
          <a:p>
            <a:pPr>
              <a:lnSpc>
                <a:spcPct val="200000"/>
              </a:lnSpc>
            </a:pPr>
            <a:r>
              <a:rPr lang="en-IN" dirty="0"/>
              <a:t>3️⃣ “How the system finds relevant knowledge” - Retrieval Layer (Top-K Search) </a:t>
            </a:r>
            <a:r>
              <a:rPr lang="en-IN" dirty="0">
                <a:highlight>
                  <a:srgbClr val="FFFF00"/>
                </a:highlight>
              </a:rPr>
              <a:t>( Mansi) 5 mins</a:t>
            </a:r>
          </a:p>
          <a:p>
            <a:pPr>
              <a:lnSpc>
                <a:spcPct val="200000"/>
              </a:lnSpc>
            </a:pPr>
            <a:r>
              <a:rPr lang="en-IN" dirty="0"/>
              <a:t>4️⃣ “How the model uses retrieved knowledge (Augmentation + RAG)” - </a:t>
            </a:r>
            <a:r>
              <a:rPr lang="fr-FR" dirty="0"/>
              <a:t>Augmentation + RAG Pipeline (LLM </a:t>
            </a:r>
            <a:r>
              <a:rPr lang="fr-FR" dirty="0" err="1"/>
              <a:t>Generation</a:t>
            </a:r>
            <a:r>
              <a:rPr lang="fr-FR" dirty="0"/>
              <a:t>) </a:t>
            </a:r>
            <a:r>
              <a:rPr lang="fr-FR" dirty="0">
                <a:highlight>
                  <a:srgbClr val="FFFF00"/>
                </a:highlight>
              </a:rPr>
              <a:t>(</a:t>
            </a:r>
            <a:r>
              <a:rPr lang="fr-FR" dirty="0" err="1">
                <a:highlight>
                  <a:srgbClr val="FFFF00"/>
                </a:highlight>
              </a:rPr>
              <a:t>Mahipal</a:t>
            </a:r>
            <a:r>
              <a:rPr lang="fr-FR" dirty="0">
                <a:highlight>
                  <a:srgbClr val="FFFF00"/>
                </a:highlight>
              </a:rPr>
              <a:t>) - 5mins</a:t>
            </a:r>
            <a:endParaRPr lang="en-IN" dirty="0">
              <a:highlight>
                <a:srgbClr val="FFFF00"/>
              </a:highlight>
            </a:endParaRPr>
          </a:p>
          <a:p>
            <a:pPr>
              <a:lnSpc>
                <a:spcPct val="200000"/>
              </a:lnSpc>
            </a:pPr>
            <a:r>
              <a:rPr lang="en-IN" dirty="0"/>
              <a:t>5️⃣ “How we keep the system safe, accurate, monitored, and usable” - Guardrails, Monitoring &amp; UI </a:t>
            </a:r>
            <a:r>
              <a:rPr lang="en-IN" dirty="0">
                <a:highlight>
                  <a:srgbClr val="FFFF00"/>
                </a:highlight>
              </a:rPr>
              <a:t>(Rekha) – 3mins</a:t>
            </a:r>
          </a:p>
        </p:txBody>
      </p:sp>
    </p:spTree>
    <p:extLst>
      <p:ext uri="{BB962C8B-B14F-4D97-AF65-F5344CB8AC3E}">
        <p14:creationId xmlns:p14="http://schemas.microsoft.com/office/powerpoint/2010/main" val="2195048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3DB78-F20E-1264-FDCF-A9880A7F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1DA9-9141-699F-C497-1FF3BF50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4" y="57592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/>
              <a:t>High-Level Architecture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E5B7BB-7A3E-EA37-5E84-04BA7AA281D8}"/>
              </a:ext>
            </a:extLst>
          </p:cNvPr>
          <p:cNvGrpSpPr/>
          <p:nvPr/>
        </p:nvGrpSpPr>
        <p:grpSpPr>
          <a:xfrm>
            <a:off x="485156" y="770897"/>
            <a:ext cx="11430324" cy="4401306"/>
            <a:chOff x="529897" y="489632"/>
            <a:chExt cx="11430324" cy="547625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E0BC62-A39B-BD3D-D5FE-D1046274A2C2}"/>
                </a:ext>
              </a:extLst>
            </p:cNvPr>
            <p:cNvSpPr txBox="1"/>
            <p:nvPr/>
          </p:nvSpPr>
          <p:spPr>
            <a:xfrm>
              <a:off x="529897" y="489632"/>
              <a:ext cx="439911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400" dirty="0"/>
                <a:t>Multimodal RAG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6CED63F-D980-E3A9-52AE-60CC9A30E300}"/>
                </a:ext>
              </a:extLst>
            </p:cNvPr>
            <p:cNvSpPr/>
            <p:nvPr/>
          </p:nvSpPr>
          <p:spPr>
            <a:xfrm>
              <a:off x="693424" y="3377725"/>
              <a:ext cx="1264587" cy="72115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/>
                <a:t>Data Source </a:t>
              </a:r>
            </a:p>
            <a:p>
              <a:pPr algn="ctr"/>
              <a:r>
                <a:rPr lang="en-IN" sz="1100" dirty="0"/>
                <a:t>( Structured / Unstructured )</a:t>
              </a:r>
            </a:p>
          </p:txBody>
        </p:sp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1DC68F47-9C9F-56F7-4E03-856C4D67E5EF}"/>
                </a:ext>
              </a:extLst>
            </p:cNvPr>
            <p:cNvCxnSpPr>
              <a:cxnSpLocks/>
              <a:stCxn id="6" idx="3"/>
              <a:endCxn id="11" idx="1"/>
            </p:cNvCxnSpPr>
            <p:nvPr/>
          </p:nvCxnSpPr>
          <p:spPr>
            <a:xfrm flipV="1">
              <a:off x="1958011" y="2872157"/>
              <a:ext cx="1104372" cy="86614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BDCD22A2-1DDE-331E-14D7-FDEC4F0F8A02}"/>
                </a:ext>
              </a:extLst>
            </p:cNvPr>
            <p:cNvCxnSpPr>
              <a:cxnSpLocks/>
              <a:stCxn id="6" idx="3"/>
              <a:endCxn id="12" idx="1"/>
            </p:cNvCxnSpPr>
            <p:nvPr/>
          </p:nvCxnSpPr>
          <p:spPr>
            <a:xfrm flipV="1">
              <a:off x="1958011" y="3433718"/>
              <a:ext cx="1104372" cy="30458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EE736783-2EDE-4842-C321-F8D306A6C1C6}"/>
                </a:ext>
              </a:extLst>
            </p:cNvPr>
            <p:cNvCxnSpPr>
              <a:cxnSpLocks/>
              <a:stCxn id="6" idx="3"/>
              <a:endCxn id="14" idx="1"/>
            </p:cNvCxnSpPr>
            <p:nvPr/>
          </p:nvCxnSpPr>
          <p:spPr>
            <a:xfrm>
              <a:off x="1958011" y="3738305"/>
              <a:ext cx="1104372" cy="24703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ACB4C3AC-1461-27F9-4E0A-DF07441C4ADF}"/>
                </a:ext>
              </a:extLst>
            </p:cNvPr>
            <p:cNvCxnSpPr>
              <a:cxnSpLocks/>
              <a:stCxn id="6" idx="3"/>
              <a:endCxn id="13" idx="1"/>
            </p:cNvCxnSpPr>
            <p:nvPr/>
          </p:nvCxnSpPr>
          <p:spPr>
            <a:xfrm>
              <a:off x="1958011" y="3738305"/>
              <a:ext cx="1104372" cy="79865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A275BB7-41F5-F4F2-1DDE-39FEA6D49A13}"/>
                </a:ext>
              </a:extLst>
            </p:cNvPr>
            <p:cNvSpPr/>
            <p:nvPr/>
          </p:nvSpPr>
          <p:spPr>
            <a:xfrm>
              <a:off x="3062383" y="2678344"/>
              <a:ext cx="1302660" cy="3876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Chunk 1</a:t>
              </a:r>
              <a:endParaRPr lang="en-IN" sz="1100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EE738A5-6E22-DB46-9196-6AA9FC801D08}"/>
                </a:ext>
              </a:extLst>
            </p:cNvPr>
            <p:cNvSpPr/>
            <p:nvPr/>
          </p:nvSpPr>
          <p:spPr>
            <a:xfrm>
              <a:off x="3062383" y="3239905"/>
              <a:ext cx="1302660" cy="3876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Chunk 2</a:t>
              </a:r>
              <a:endParaRPr lang="en-IN" sz="1100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386CCEE-0C72-B19C-4183-152095504914}"/>
                </a:ext>
              </a:extLst>
            </p:cNvPr>
            <p:cNvSpPr/>
            <p:nvPr/>
          </p:nvSpPr>
          <p:spPr>
            <a:xfrm>
              <a:off x="3062383" y="4343149"/>
              <a:ext cx="1302660" cy="3876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Chunk 4</a:t>
              </a:r>
              <a:endParaRPr lang="en-IN" sz="1100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BD0D5C0-5EDE-8F35-32C1-7777491BFF3E}"/>
                </a:ext>
              </a:extLst>
            </p:cNvPr>
            <p:cNvSpPr/>
            <p:nvPr/>
          </p:nvSpPr>
          <p:spPr>
            <a:xfrm>
              <a:off x="3062383" y="3791527"/>
              <a:ext cx="1302660" cy="3876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Chunk 3</a:t>
              </a:r>
              <a:endParaRPr lang="en-IN" sz="11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941251-1A29-A4F6-2B50-1E9FA59AD6AF}"/>
                </a:ext>
              </a:extLst>
            </p:cNvPr>
            <p:cNvSpPr txBox="1"/>
            <p:nvPr/>
          </p:nvSpPr>
          <p:spPr>
            <a:xfrm>
              <a:off x="1948471" y="3476140"/>
              <a:ext cx="64557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100" dirty="0"/>
                <a:t>Ingest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267CC1-D0CF-38E7-1044-03761F1A5CD6}"/>
                </a:ext>
              </a:extLst>
            </p:cNvPr>
            <p:cNvSpPr txBox="1"/>
            <p:nvPr/>
          </p:nvSpPr>
          <p:spPr>
            <a:xfrm>
              <a:off x="2893794" y="4792714"/>
              <a:ext cx="1685312" cy="1061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900" dirty="0"/>
                <a:t>Preprocess &amp; chunking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900" dirty="0"/>
                <a:t>LangChain </a:t>
              </a:r>
              <a:r>
                <a:rPr lang="en-IN" sz="900" dirty="0" err="1">
                  <a:latin typeface="Courier New" panose="02070309020205020404" pitchFamily="49" charset="0"/>
                </a:rPr>
                <a:t>RecursiveCharacterTextSplitter</a:t>
              </a:r>
              <a:endParaRPr lang="en-IN" sz="900" dirty="0">
                <a:latin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u="sng" dirty="0"/>
                <a:t>chunk size</a:t>
              </a:r>
              <a:r>
                <a:rPr lang="en-US" sz="900" dirty="0"/>
                <a:t>: </a:t>
              </a:r>
              <a:r>
                <a:rPr lang="en-US" sz="900" b="1" dirty="0"/>
                <a:t>800–1200 </a:t>
              </a:r>
              <a:r>
                <a:rPr lang="en-US" sz="900" dirty="0"/>
                <a:t>tokens with </a:t>
              </a:r>
              <a:r>
                <a:rPr lang="en-US" sz="900" b="1" dirty="0"/>
                <a:t>100–200 </a:t>
              </a:r>
              <a:r>
                <a:rPr lang="en-US" sz="900" u="sng" dirty="0"/>
                <a:t>token overlap </a:t>
              </a:r>
              <a:endParaRPr lang="en-IN" sz="900" u="sng" dirty="0"/>
            </a:p>
            <a:p>
              <a:r>
                <a:rPr lang="en-IN" sz="900" dirty="0"/>
                <a:t> 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0797282-2A69-A5C3-7C6B-3DA1837B1A7B}"/>
                </a:ext>
              </a:extLst>
            </p:cNvPr>
            <p:cNvSpPr/>
            <p:nvPr/>
          </p:nvSpPr>
          <p:spPr>
            <a:xfrm>
              <a:off x="4768071" y="2679640"/>
              <a:ext cx="1302660" cy="3876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Embeddings</a:t>
              </a:r>
              <a:endParaRPr lang="en-IN" sz="1100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002D359-428B-D77A-BA2E-E84C17A79969}"/>
                </a:ext>
              </a:extLst>
            </p:cNvPr>
            <p:cNvSpPr/>
            <p:nvPr/>
          </p:nvSpPr>
          <p:spPr>
            <a:xfrm>
              <a:off x="4768071" y="3241201"/>
              <a:ext cx="1302660" cy="3876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Embeddings</a:t>
              </a:r>
              <a:endParaRPr lang="en-IN" sz="110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615A833-BE7A-5DA9-75FB-2CB755F5847A}"/>
                </a:ext>
              </a:extLst>
            </p:cNvPr>
            <p:cNvSpPr/>
            <p:nvPr/>
          </p:nvSpPr>
          <p:spPr>
            <a:xfrm>
              <a:off x="4768071" y="4344445"/>
              <a:ext cx="1302660" cy="3876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Embeddings</a:t>
              </a:r>
              <a:endParaRPr lang="en-IN" sz="1100" dirty="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C774E01-7FC6-D407-1AD1-4A41E6B57924}"/>
                </a:ext>
              </a:extLst>
            </p:cNvPr>
            <p:cNvSpPr/>
            <p:nvPr/>
          </p:nvSpPr>
          <p:spPr>
            <a:xfrm>
              <a:off x="4768071" y="3792823"/>
              <a:ext cx="1302660" cy="3876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/>
                <a:t>Embeddings </a:t>
              </a:r>
              <a:endParaRPr lang="en-IN" sz="1100" dirty="0"/>
            </a:p>
          </p:txBody>
        </p:sp>
        <p:sp>
          <p:nvSpPr>
            <p:cNvPr id="22" name="Flowchart: Magnetic Disk 21">
              <a:extLst>
                <a:ext uri="{FF2B5EF4-FFF2-40B4-BE49-F238E27FC236}">
                  <a16:creationId xmlns:a16="http://schemas.microsoft.com/office/drawing/2014/main" id="{581D9FFE-FAEA-5D34-BD2F-AC8C050E2B90}"/>
                </a:ext>
              </a:extLst>
            </p:cNvPr>
            <p:cNvSpPr/>
            <p:nvPr/>
          </p:nvSpPr>
          <p:spPr>
            <a:xfrm>
              <a:off x="7142857" y="3476139"/>
              <a:ext cx="828330" cy="727861"/>
            </a:xfrm>
            <a:prstGeom prst="flowChartMagneticDisk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/>
                <a:t>Vector DB</a:t>
              </a:r>
            </a:p>
          </p:txBody>
        </p: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C8DD27CA-E1F4-F55C-37F9-807D1740F736}"/>
                </a:ext>
              </a:extLst>
            </p:cNvPr>
            <p:cNvCxnSpPr>
              <a:cxnSpLocks/>
              <a:stCxn id="18" idx="3"/>
              <a:endCxn id="22" idx="2"/>
            </p:cNvCxnSpPr>
            <p:nvPr/>
          </p:nvCxnSpPr>
          <p:spPr>
            <a:xfrm>
              <a:off x="6070731" y="2873453"/>
              <a:ext cx="1072126" cy="966617"/>
            </a:xfrm>
            <a:prstGeom prst="bentConnector3">
              <a:avLst>
                <a:gd name="adj1" fmla="val 2218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9BC00704-660E-AFCB-A5EF-7572734F0676}"/>
                </a:ext>
              </a:extLst>
            </p:cNvPr>
            <p:cNvCxnSpPr>
              <a:cxnSpLocks/>
              <a:stCxn id="20" idx="3"/>
              <a:endCxn id="22" idx="2"/>
            </p:cNvCxnSpPr>
            <p:nvPr/>
          </p:nvCxnSpPr>
          <p:spPr>
            <a:xfrm flipV="1">
              <a:off x="6070731" y="3840070"/>
              <a:ext cx="1072126" cy="698188"/>
            </a:xfrm>
            <a:prstGeom prst="bentConnector3">
              <a:avLst>
                <a:gd name="adj1" fmla="val 2311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33AB8621-7634-A0A2-978E-2187B0FB9CA4}"/>
                </a:ext>
              </a:extLst>
            </p:cNvPr>
            <p:cNvCxnSpPr>
              <a:cxnSpLocks/>
              <a:stCxn id="21" idx="3"/>
              <a:endCxn id="22" idx="2"/>
            </p:cNvCxnSpPr>
            <p:nvPr/>
          </p:nvCxnSpPr>
          <p:spPr>
            <a:xfrm flipV="1">
              <a:off x="6070731" y="3840070"/>
              <a:ext cx="1072126" cy="146566"/>
            </a:xfrm>
            <a:prstGeom prst="bentConnector3">
              <a:avLst>
                <a:gd name="adj1" fmla="val 2311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DB0A9D9D-5411-D6E0-282D-BB7A259DB988}"/>
                </a:ext>
              </a:extLst>
            </p:cNvPr>
            <p:cNvCxnSpPr>
              <a:cxnSpLocks/>
              <a:stCxn id="19" idx="3"/>
              <a:endCxn id="22" idx="2"/>
            </p:cNvCxnSpPr>
            <p:nvPr/>
          </p:nvCxnSpPr>
          <p:spPr>
            <a:xfrm>
              <a:off x="6070731" y="3435014"/>
              <a:ext cx="1072126" cy="405056"/>
            </a:xfrm>
            <a:prstGeom prst="bentConnector3">
              <a:avLst>
                <a:gd name="adj1" fmla="val 2218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5CCA52-8E54-077E-4848-9A3FB91EE651}"/>
                </a:ext>
              </a:extLst>
            </p:cNvPr>
            <p:cNvSpPr txBox="1"/>
            <p:nvPr/>
          </p:nvSpPr>
          <p:spPr>
            <a:xfrm>
              <a:off x="4626241" y="4893438"/>
              <a:ext cx="1509519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100" dirty="0"/>
                <a:t>Embedding Model </a:t>
              </a:r>
            </a:p>
            <a:p>
              <a:pPr algn="ctr"/>
              <a:r>
                <a:rPr lang="en-IN" sz="1100" b="1" dirty="0"/>
                <a:t>text-embedding-3-large</a:t>
              </a:r>
              <a:r>
                <a:rPr lang="en-IN" sz="1100" dirty="0"/>
                <a:t> 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18BC439-26FB-FDFC-2991-61D46ADB573B}"/>
                </a:ext>
              </a:extLst>
            </p:cNvPr>
            <p:cNvCxnSpPr>
              <a:stCxn id="11" idx="3"/>
              <a:endCxn id="18" idx="1"/>
            </p:cNvCxnSpPr>
            <p:nvPr/>
          </p:nvCxnSpPr>
          <p:spPr>
            <a:xfrm>
              <a:off x="4365043" y="2872157"/>
              <a:ext cx="403028" cy="1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07C4C70-2FA6-68DA-40B2-EE38B2F7F975}"/>
                </a:ext>
              </a:extLst>
            </p:cNvPr>
            <p:cNvCxnSpPr>
              <a:stCxn id="12" idx="3"/>
              <a:endCxn id="19" idx="1"/>
            </p:cNvCxnSpPr>
            <p:nvPr/>
          </p:nvCxnSpPr>
          <p:spPr>
            <a:xfrm>
              <a:off x="4365043" y="3433718"/>
              <a:ext cx="403028" cy="1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B54223C-33A3-EF1D-3186-A60526D4ACA7}"/>
                </a:ext>
              </a:extLst>
            </p:cNvPr>
            <p:cNvCxnSpPr>
              <a:stCxn id="14" idx="3"/>
              <a:endCxn id="21" idx="1"/>
            </p:cNvCxnSpPr>
            <p:nvPr/>
          </p:nvCxnSpPr>
          <p:spPr>
            <a:xfrm>
              <a:off x="4365043" y="3985340"/>
              <a:ext cx="403028" cy="1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DCBF7C2-6C0C-FBEB-43F4-4F97F5610CFD}"/>
                </a:ext>
              </a:extLst>
            </p:cNvPr>
            <p:cNvCxnSpPr>
              <a:stCxn id="13" idx="3"/>
              <a:endCxn id="20" idx="1"/>
            </p:cNvCxnSpPr>
            <p:nvPr/>
          </p:nvCxnSpPr>
          <p:spPr>
            <a:xfrm>
              <a:off x="4365043" y="4536962"/>
              <a:ext cx="403028" cy="12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585D7FC-C449-B24F-0C73-25A035E6253D}"/>
                </a:ext>
              </a:extLst>
            </p:cNvPr>
            <p:cNvSpPr txBox="1"/>
            <p:nvPr/>
          </p:nvSpPr>
          <p:spPr>
            <a:xfrm>
              <a:off x="7161185" y="4194662"/>
              <a:ext cx="82494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100" dirty="0"/>
                <a:t>Chroma DB</a:t>
              </a:r>
            </a:p>
            <a:p>
              <a:pPr algn="ctr"/>
              <a:r>
                <a:rPr lang="en-IN" sz="1100" dirty="0"/>
                <a:t> (Local)</a:t>
              </a:r>
              <a:endParaRPr lang="en-IN" sz="11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9B155CC-15C5-CE8A-792D-232D5842F6E3}"/>
                </a:ext>
              </a:extLst>
            </p:cNvPr>
            <p:cNvSpPr/>
            <p:nvPr/>
          </p:nvSpPr>
          <p:spPr>
            <a:xfrm>
              <a:off x="9939134" y="4268497"/>
              <a:ext cx="1282148" cy="40253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Ranked Chunks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DD38324-3790-0D55-1C1D-4C1DFF663323}"/>
                </a:ext>
              </a:extLst>
            </p:cNvPr>
            <p:cNvSpPr txBox="1"/>
            <p:nvPr/>
          </p:nvSpPr>
          <p:spPr>
            <a:xfrm>
              <a:off x="9926483" y="4678508"/>
              <a:ext cx="1246572" cy="9765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/>
                <a:t>on query, embed query, perform top-K ANN search in Chroma, return ranked chunks</a:t>
              </a:r>
              <a:endParaRPr lang="en-IN" sz="900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CFCB4B8-0541-D9B0-CCF8-65209824ADCB}"/>
                </a:ext>
              </a:extLst>
            </p:cNvPr>
            <p:cNvSpPr/>
            <p:nvPr/>
          </p:nvSpPr>
          <p:spPr>
            <a:xfrm>
              <a:off x="8058945" y="2653916"/>
              <a:ext cx="1282148" cy="40253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>
                  <a:solidFill>
                    <a:schemeClr val="tx1"/>
                  </a:solidFill>
                </a:rPr>
                <a:t>Semantic Search (Cosine)</a:t>
              </a:r>
            </a:p>
          </p:txBody>
        </p:sp>
        <p:sp>
          <p:nvSpPr>
            <p:cNvPr id="36" name="AutoShape 2" descr="Image result for llm">
              <a:extLst>
                <a:ext uri="{FF2B5EF4-FFF2-40B4-BE49-F238E27FC236}">
                  <a16:creationId xmlns:a16="http://schemas.microsoft.com/office/drawing/2014/main" id="{AC4A8C18-96A5-A5D1-E74A-7244D0BA26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23117" y="3753427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3120E2B-B24D-EB1F-60BA-AD280777C703}"/>
                </a:ext>
              </a:extLst>
            </p:cNvPr>
            <p:cNvGrpSpPr/>
            <p:nvPr/>
          </p:nvGrpSpPr>
          <p:grpSpPr>
            <a:xfrm>
              <a:off x="10215924" y="2976097"/>
              <a:ext cx="1744297" cy="727861"/>
              <a:chOff x="9880105" y="2148900"/>
              <a:chExt cx="1744297" cy="727861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C1834F5A-EA48-EF51-C1E1-BB9F485CBD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880105" y="2148900"/>
                <a:ext cx="744217" cy="727861"/>
              </a:xfrm>
              <a:prstGeom prst="rect">
                <a:avLst/>
              </a:prstGeom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2C1961E-078B-ADFF-9BDE-D73182FDE42E}"/>
                  </a:ext>
                </a:extLst>
              </p:cNvPr>
              <p:cNvSpPr txBox="1"/>
              <p:nvPr/>
            </p:nvSpPr>
            <p:spPr>
              <a:xfrm>
                <a:off x="10583974" y="2206971"/>
                <a:ext cx="1040428" cy="421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800" dirty="0"/>
                  <a:t>OpenAI LLMs </a:t>
                </a:r>
              </a:p>
              <a:p>
                <a:r>
                  <a:rPr lang="en-IN" sz="800" dirty="0"/>
                  <a:t>(GPT-4o / GPT-4.1)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3EBBB74-5B77-B899-CA83-13C2781BD7D9}"/>
                </a:ext>
              </a:extLst>
            </p:cNvPr>
            <p:cNvSpPr txBox="1"/>
            <p:nvPr/>
          </p:nvSpPr>
          <p:spPr>
            <a:xfrm>
              <a:off x="8076709" y="3586192"/>
              <a:ext cx="82833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chemeClr val="accent4">
                      <a:lumMod val="50000"/>
                    </a:schemeClr>
                  </a:solidFill>
                </a:rPr>
                <a:t>RETRIEVAL</a:t>
              </a:r>
            </a:p>
          </p:txBody>
        </p: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BF42CA32-7B3C-073B-85A8-34BF8F7FA8E1}"/>
                </a:ext>
              </a:extLst>
            </p:cNvPr>
            <p:cNvCxnSpPr>
              <a:cxnSpLocks/>
              <a:stCxn id="22" idx="4"/>
              <a:endCxn id="33" idx="1"/>
            </p:cNvCxnSpPr>
            <p:nvPr/>
          </p:nvCxnSpPr>
          <p:spPr>
            <a:xfrm>
              <a:off x="7971187" y="3840070"/>
              <a:ext cx="1967947" cy="62969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265428D-4D3E-9632-D7A7-35991E81AB87}"/>
                </a:ext>
              </a:extLst>
            </p:cNvPr>
            <p:cNvCxnSpPr>
              <a:stCxn id="33" idx="0"/>
              <a:endCxn id="58" idx="2"/>
            </p:cNvCxnSpPr>
            <p:nvPr/>
          </p:nvCxnSpPr>
          <p:spPr>
            <a:xfrm flipV="1">
              <a:off x="10580208" y="3703958"/>
              <a:ext cx="7825" cy="5645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A99DB4D-7DF2-26D5-AB6B-2E9E39E2E78B}"/>
                </a:ext>
              </a:extLst>
            </p:cNvPr>
            <p:cNvSpPr txBox="1"/>
            <p:nvPr/>
          </p:nvSpPr>
          <p:spPr>
            <a:xfrm>
              <a:off x="10548275" y="1572318"/>
              <a:ext cx="9573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chemeClr val="accent4">
                      <a:lumMod val="50000"/>
                    </a:schemeClr>
                  </a:solidFill>
                </a:rPr>
                <a:t>GENERATOR</a:t>
              </a:r>
            </a:p>
          </p:txBody>
        </p:sp>
        <p:pic>
          <p:nvPicPr>
            <p:cNvPr id="42" name="Picture 8">
              <a:extLst>
                <a:ext uri="{FF2B5EF4-FFF2-40B4-BE49-F238E27FC236}">
                  <a16:creationId xmlns:a16="http://schemas.microsoft.com/office/drawing/2014/main" id="{03D4F42B-0F7E-3221-10A8-3CF5359EB5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4492" y="877897"/>
              <a:ext cx="412644" cy="467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DC0CFB5-6B38-9FD1-861C-F91488060512}"/>
                </a:ext>
              </a:extLst>
            </p:cNvPr>
            <p:cNvSpPr/>
            <p:nvPr/>
          </p:nvSpPr>
          <p:spPr>
            <a:xfrm>
              <a:off x="8058945" y="1829832"/>
              <a:ext cx="1282148" cy="40253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>
                  <a:solidFill>
                    <a:schemeClr val="tx1"/>
                  </a:solidFill>
                </a:rPr>
                <a:t>Question Embeddings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FDDF7DE-8510-FB9F-88A6-138F6DBA94A3}"/>
                </a:ext>
              </a:extLst>
            </p:cNvPr>
            <p:cNvCxnSpPr>
              <a:stCxn id="43" idx="2"/>
              <a:endCxn id="35" idx="0"/>
            </p:cNvCxnSpPr>
            <p:nvPr/>
          </p:nvCxnSpPr>
          <p:spPr>
            <a:xfrm>
              <a:off x="8700019" y="2232367"/>
              <a:ext cx="0" cy="4215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F6BE879-7157-B0E6-39D9-F5B487EEE1C6}"/>
                </a:ext>
              </a:extLst>
            </p:cNvPr>
            <p:cNvSpPr/>
            <p:nvPr/>
          </p:nvSpPr>
          <p:spPr>
            <a:xfrm>
              <a:off x="9938509" y="1956109"/>
              <a:ext cx="1282148" cy="40253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dirty="0">
                  <a:solidFill>
                    <a:schemeClr val="tx1"/>
                  </a:solidFill>
                </a:rPr>
                <a:t>Answers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3D56307-6DA2-C425-7E61-8F33AEB64CE8}"/>
                </a:ext>
              </a:extLst>
            </p:cNvPr>
            <p:cNvCxnSpPr>
              <a:stCxn id="58" idx="0"/>
              <a:endCxn id="45" idx="2"/>
            </p:cNvCxnSpPr>
            <p:nvPr/>
          </p:nvCxnSpPr>
          <p:spPr>
            <a:xfrm flipH="1" flipV="1">
              <a:off x="10579583" y="2358644"/>
              <a:ext cx="8450" cy="6174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3FD51608-31B7-D3F9-0BB9-88A2717C4F5D}"/>
                </a:ext>
              </a:extLst>
            </p:cNvPr>
            <p:cNvCxnSpPr>
              <a:stCxn id="45" idx="0"/>
              <a:endCxn id="42" idx="3"/>
            </p:cNvCxnSpPr>
            <p:nvPr/>
          </p:nvCxnSpPr>
          <p:spPr>
            <a:xfrm rot="16200000" flipV="1">
              <a:off x="9806040" y="1182565"/>
              <a:ext cx="844640" cy="70244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2D002CA4-128E-32D6-7AB2-1F4EDE9704C9}"/>
                </a:ext>
              </a:extLst>
            </p:cNvPr>
            <p:cNvCxnSpPr>
              <a:stCxn id="42" idx="1"/>
              <a:endCxn id="43" idx="0"/>
            </p:cNvCxnSpPr>
            <p:nvPr/>
          </p:nvCxnSpPr>
          <p:spPr>
            <a:xfrm rot="10800000" flipV="1">
              <a:off x="8700020" y="1111468"/>
              <a:ext cx="764473" cy="71836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341C0F2-16E2-D9EE-8148-FA5B01046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1783" y="3663323"/>
              <a:ext cx="384256" cy="366589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0F02FC0-8C48-47E9-E9FC-889CBC787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83738" y="530307"/>
              <a:ext cx="574152" cy="315313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A16A7F4-9323-384F-C389-728120E3BC02}"/>
                </a:ext>
              </a:extLst>
            </p:cNvPr>
            <p:cNvSpPr txBox="1"/>
            <p:nvPr/>
          </p:nvSpPr>
          <p:spPr>
            <a:xfrm>
              <a:off x="9300219" y="1278535"/>
              <a:ext cx="764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000" dirty="0"/>
                <a:t>USER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E6C5F4-1A7A-DC9B-EFA2-C8B869D53916}"/>
                </a:ext>
              </a:extLst>
            </p:cNvPr>
            <p:cNvSpPr txBox="1"/>
            <p:nvPr/>
          </p:nvSpPr>
          <p:spPr>
            <a:xfrm>
              <a:off x="699307" y="4124856"/>
              <a:ext cx="136169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00" dirty="0"/>
                <a:t>PDFs, DOCX, TXT, images</a:t>
              </a:r>
            </a:p>
          </p:txBody>
        </p: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56B53C36-F5A5-B4EA-8468-181E81A29021}"/>
                </a:ext>
              </a:extLst>
            </p:cNvPr>
            <p:cNvCxnSpPr>
              <a:stCxn id="35" idx="1"/>
              <a:endCxn id="22" idx="1"/>
            </p:cNvCxnSpPr>
            <p:nvPr/>
          </p:nvCxnSpPr>
          <p:spPr>
            <a:xfrm rot="10800000" flipV="1">
              <a:off x="7557023" y="2855183"/>
              <a:ext cx="501923" cy="62095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30077E5-9029-C701-C4AC-6A240EA7C85E}"/>
                </a:ext>
              </a:extLst>
            </p:cNvPr>
            <p:cNvSpPr txBox="1"/>
            <p:nvPr/>
          </p:nvSpPr>
          <p:spPr>
            <a:xfrm>
              <a:off x="10133812" y="2456659"/>
              <a:ext cx="1401620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validate LLM response with </a:t>
              </a:r>
              <a:r>
                <a:rPr lang="en-US" sz="1000" dirty="0" err="1"/>
                <a:t>Pydantic</a:t>
              </a:r>
              <a:r>
                <a:rPr lang="en-US" sz="1000" dirty="0"/>
                <a:t> schema</a:t>
              </a:r>
              <a:endParaRPr lang="en-IN" sz="1000" dirty="0"/>
            </a:p>
          </p:txBody>
        </p:sp>
        <p:sp>
          <p:nvSpPr>
            <p:cNvPr id="55" name="Arrow: Left-Right 54">
              <a:extLst>
                <a:ext uri="{FF2B5EF4-FFF2-40B4-BE49-F238E27FC236}">
                  <a16:creationId xmlns:a16="http://schemas.microsoft.com/office/drawing/2014/main" id="{A2ED9076-C288-2F20-621B-32F992A264D1}"/>
                </a:ext>
              </a:extLst>
            </p:cNvPr>
            <p:cNvSpPr/>
            <p:nvPr/>
          </p:nvSpPr>
          <p:spPr>
            <a:xfrm>
              <a:off x="7923604" y="5578986"/>
              <a:ext cx="3816032" cy="386898"/>
            </a:xfrm>
            <a:prstGeom prst="leftRightArrow">
              <a:avLst>
                <a:gd name="adj1" fmla="val 50000"/>
                <a:gd name="adj2" fmla="val 2688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solidFill>
                    <a:schemeClr val="tx1"/>
                  </a:solidFill>
                </a:rPr>
                <a:t>Guardrails &amp; monitoring</a:t>
              </a:r>
              <a:r>
                <a:rPr lang="en-IN" sz="12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BA9F28-444B-1E9A-37E8-3E8E80156B4D}"/>
                </a:ext>
              </a:extLst>
            </p:cNvPr>
            <p:cNvSpPr txBox="1"/>
            <p:nvPr/>
          </p:nvSpPr>
          <p:spPr>
            <a:xfrm>
              <a:off x="2508515" y="3606945"/>
              <a:ext cx="170219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00" dirty="0"/>
                <a:t>Text split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AA6C449-F299-E795-7EA0-9BC008648348}"/>
                </a:ext>
              </a:extLst>
            </p:cNvPr>
            <p:cNvSpPr txBox="1"/>
            <p:nvPr/>
          </p:nvSpPr>
          <p:spPr>
            <a:xfrm>
              <a:off x="10548275" y="3657570"/>
              <a:ext cx="119136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100" b="1">
                  <a:solidFill>
                    <a:schemeClr val="accent4">
                      <a:lumMod val="50000"/>
                    </a:schemeClr>
                  </a:solidFill>
                </a:defRPr>
              </a:lvl1pPr>
            </a:lstStyle>
            <a:p>
              <a:r>
                <a:rPr lang="en-US" dirty="0"/>
                <a:t>AUGMENTATION</a:t>
              </a:r>
            </a:p>
          </p:txBody>
        </p:sp>
      </p:grp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4F63A4D-BD15-ABB4-F47A-6DFFB47DBD06}"/>
              </a:ext>
            </a:extLst>
          </p:cNvPr>
          <p:cNvSpPr/>
          <p:nvPr/>
        </p:nvSpPr>
        <p:spPr>
          <a:xfrm>
            <a:off x="348792" y="631593"/>
            <a:ext cx="11566688" cy="4670632"/>
          </a:xfrm>
          <a:prstGeom prst="roundRect">
            <a:avLst>
              <a:gd name="adj" fmla="val 2353"/>
            </a:avLst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421C96-D227-769F-7B5C-0AFC8F98ED3F}"/>
              </a:ext>
            </a:extLst>
          </p:cNvPr>
          <p:cNvSpPr txBox="1"/>
          <p:nvPr/>
        </p:nvSpPr>
        <p:spPr>
          <a:xfrm>
            <a:off x="498562" y="1101032"/>
            <a:ext cx="6141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LangChain (end-to-end orchestration)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8CDAB-71CA-6CC0-BE15-5A586D921E0B}"/>
              </a:ext>
            </a:extLst>
          </p:cNvPr>
          <p:cNvSpPr txBox="1"/>
          <p:nvPr/>
        </p:nvSpPr>
        <p:spPr>
          <a:xfrm>
            <a:off x="10520737" y="3458563"/>
            <a:ext cx="14423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Retrieved chunks into LLM prompt + Instructions</a:t>
            </a:r>
            <a:endParaRPr lang="en-IN" sz="8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6952A6A-CB98-FE0F-6E94-335479D8FE0B}"/>
              </a:ext>
            </a:extLst>
          </p:cNvPr>
          <p:cNvSpPr txBox="1"/>
          <p:nvPr/>
        </p:nvSpPr>
        <p:spPr>
          <a:xfrm>
            <a:off x="405476" y="5372193"/>
            <a:ext cx="56855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00" b="1" dirty="0"/>
              <a:t>Ingest</a:t>
            </a:r>
            <a:r>
              <a:rPr lang="en-IN" sz="1000" dirty="0"/>
              <a:t> — runners that accept PDFs, DOCX, TXT, images (OCR), and metadata.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00" b="1" dirty="0"/>
              <a:t>Preprocess &amp; chunk </a:t>
            </a:r>
            <a:r>
              <a:rPr lang="en-IN" sz="1000" dirty="0"/>
              <a:t>— extract text, normalize, split into chunks with overlap, attach provenance metadata.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00" b="1" dirty="0"/>
              <a:t>Embed &amp; store </a:t>
            </a:r>
            <a:r>
              <a:rPr lang="en-IN" sz="1000" dirty="0"/>
              <a:t>— call text-embedding-3-large to embed each chunk; </a:t>
            </a:r>
            <a:r>
              <a:rPr lang="en-IN" sz="1000" dirty="0" err="1"/>
              <a:t>upsert</a:t>
            </a:r>
            <a:r>
              <a:rPr lang="en-IN" sz="1000" dirty="0"/>
              <a:t> into Chroma collection with metadata.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00" b="1" dirty="0"/>
              <a:t>Retrieve</a:t>
            </a:r>
            <a:r>
              <a:rPr lang="en-IN" sz="1000" dirty="0"/>
              <a:t> — On query, embed query, perform top-K ANN search in Chroma, return ranked chunks + provenance.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00" b="1" dirty="0"/>
              <a:t>Augmentation</a:t>
            </a:r>
            <a:r>
              <a:rPr lang="en-IN" sz="1000" dirty="0"/>
              <a:t> – </a:t>
            </a:r>
            <a:r>
              <a:rPr lang="en-US" sz="1000" dirty="0"/>
              <a:t>The retrieved chunks are inserted into the LLM prompt before generation.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IN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0B1EEE-511C-E6AD-CC40-EEF470F8977E}"/>
              </a:ext>
            </a:extLst>
          </p:cNvPr>
          <p:cNvSpPr txBox="1"/>
          <p:nvPr/>
        </p:nvSpPr>
        <p:spPr>
          <a:xfrm>
            <a:off x="6229937" y="5372193"/>
            <a:ext cx="5685543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00" b="1" dirty="0"/>
              <a:t>RAG generation </a:t>
            </a:r>
            <a:r>
              <a:rPr lang="en-IN" sz="1000" dirty="0"/>
              <a:t>— feed retrieved chunks into an LLM (GPT-4o/GPT-4.1) via a carefully constructed prompt that enforces grounding and structured output.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00" b="1" dirty="0"/>
              <a:t>Post-process</a:t>
            </a:r>
            <a:r>
              <a:rPr lang="en-IN" sz="1000" dirty="0"/>
              <a:t> — validate LLM response with </a:t>
            </a:r>
            <a:r>
              <a:rPr lang="en-IN" sz="1000" dirty="0" err="1"/>
              <a:t>Pydantic</a:t>
            </a:r>
            <a:r>
              <a:rPr lang="en-IN" sz="1000" dirty="0"/>
              <a:t> schema; sanitize outputs; log evidence; optionally re-run if schema fails or hallucination detected.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00" b="1" dirty="0"/>
              <a:t>Guardrails &amp; monitoring</a:t>
            </a:r>
            <a:r>
              <a:rPr lang="en-IN" sz="1000" dirty="0"/>
              <a:t> — content filters, rate limits, relevance thresholds, explainability, human-in-the-loop for high-risk responses.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000" b="1" dirty="0"/>
              <a:t>Deployment</a:t>
            </a:r>
            <a:r>
              <a:rPr lang="en-IN" sz="1000" dirty="0"/>
              <a:t> – Via </a:t>
            </a:r>
            <a:r>
              <a:rPr lang="en-IN" sz="1000" dirty="0" err="1"/>
              <a:t>Streamlit</a:t>
            </a:r>
            <a:r>
              <a:rPr lang="en-IN" sz="1000" dirty="0"/>
              <a:t> in Local host</a:t>
            </a:r>
          </a:p>
        </p:txBody>
      </p:sp>
    </p:spTree>
    <p:extLst>
      <p:ext uri="{BB962C8B-B14F-4D97-AF65-F5344CB8AC3E}">
        <p14:creationId xmlns:p14="http://schemas.microsoft.com/office/powerpoint/2010/main" val="1169534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AA869-17D5-4E16-87D2-0D109A71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536600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02FD4-583C-E1BA-B368-DD73E093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678"/>
            <a:ext cx="10515600" cy="539848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Overview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A6B12-92DF-A93E-64AB-9B2E87CA8DE3}"/>
              </a:ext>
            </a:extLst>
          </p:cNvPr>
          <p:cNvSpPr txBox="1"/>
          <p:nvPr/>
        </p:nvSpPr>
        <p:spPr>
          <a:xfrm>
            <a:off x="515332" y="723955"/>
            <a:ext cx="1116133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Requirement</a:t>
            </a:r>
            <a:r>
              <a:rPr lang="en-IN" dirty="0"/>
              <a:t> </a:t>
            </a:r>
          </a:p>
          <a:p>
            <a:endParaRPr lang="en-IN" sz="1600" dirty="0"/>
          </a:p>
          <a:p>
            <a:r>
              <a:rPr lang="en-IN" sz="1600" dirty="0"/>
              <a:t>The capstone project requires participants to design and implement a complete Multimodal RAG (Retrieval-Augmented Generation) system, covering engineering, analytics, and UI development. </a:t>
            </a:r>
          </a:p>
          <a:p>
            <a:r>
              <a:rPr lang="en-IN" sz="1600" dirty="0"/>
              <a:t>Participants must build a full document processing pipeline, generate embeddings, store and retrieve data using a vector database, construct a RAG chain with structured outputs and guardrails, and evaluate the system through analytics such as:</a:t>
            </a:r>
          </a:p>
          <a:p>
            <a:pPr lvl="1"/>
            <a:r>
              <a:rPr lang="en-IN" sz="1600" dirty="0"/>
              <a:t>● Chunk size comparison </a:t>
            </a:r>
          </a:p>
          <a:p>
            <a:pPr lvl="1"/>
            <a:r>
              <a:rPr lang="en-IN" sz="1600" dirty="0"/>
              <a:t>● Retrieval quality assessment </a:t>
            </a:r>
          </a:p>
          <a:p>
            <a:pPr lvl="1"/>
            <a:r>
              <a:rPr lang="en-IN" sz="1600" dirty="0"/>
              <a:t>● </a:t>
            </a:r>
            <a:r>
              <a:rPr lang="en-IN" sz="1600" dirty="0" err="1"/>
              <a:t>Precision@k</a:t>
            </a:r>
            <a:r>
              <a:rPr lang="en-IN" sz="1600" dirty="0"/>
              <a:t> calculation </a:t>
            </a:r>
          </a:p>
          <a:p>
            <a:pPr lvl="1"/>
            <a:r>
              <a:rPr lang="en-IN" sz="1600" dirty="0"/>
              <a:t>● Embedding model comparison </a:t>
            </a:r>
          </a:p>
          <a:p>
            <a:pPr lvl="1"/>
            <a:endParaRPr lang="en-IN" sz="1600" dirty="0"/>
          </a:p>
          <a:p>
            <a:r>
              <a:rPr lang="en-IN" sz="1600" dirty="0"/>
              <a:t>Present their work through a functional UI—either a </a:t>
            </a:r>
            <a:r>
              <a:rPr lang="en-IN" sz="1600" dirty="0" err="1"/>
              <a:t>Streamlit</a:t>
            </a:r>
            <a:r>
              <a:rPr lang="en-IN" sz="1600" dirty="0"/>
              <a:t> RAG chatbot or an interactive notebook-based RAG playground.</a:t>
            </a:r>
          </a:p>
          <a:p>
            <a:endParaRPr lang="en-IN" sz="1600" dirty="0"/>
          </a:p>
          <a:p>
            <a:endParaRPr lang="en-IN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C0E411-8386-94A6-734B-29640B1F3E50}"/>
              </a:ext>
            </a:extLst>
          </p:cNvPr>
          <p:cNvSpPr/>
          <p:nvPr/>
        </p:nvSpPr>
        <p:spPr>
          <a:xfrm>
            <a:off x="348792" y="631592"/>
            <a:ext cx="11566688" cy="5740927"/>
          </a:xfrm>
          <a:prstGeom prst="roundRect">
            <a:avLst>
              <a:gd name="adj" fmla="val 2353"/>
            </a:avLst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898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671EB-9610-8144-7B39-A2C857CA5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81" y="430457"/>
            <a:ext cx="11322378" cy="5932635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User Query</a:t>
            </a:r>
          </a:p>
          <a:p>
            <a:r>
              <a:rPr lang="en-IN" dirty="0"/>
              <a:t>   ↓  (Input Guardrails: validation, filters) – </a:t>
            </a:r>
          </a:p>
          <a:p>
            <a:pPr lvl="3"/>
            <a:r>
              <a:rPr lang="en-US" dirty="0"/>
              <a:t>retrieve customer of account no : 1234567890123456, emails, Query more than 1500 char</a:t>
            </a:r>
          </a:p>
          <a:p>
            <a:pPr lvl="3"/>
            <a:r>
              <a:rPr lang="en-US" dirty="0"/>
              <a:t>Validate and filter even before hitting the RAG/ LLM for repones.</a:t>
            </a:r>
          </a:p>
          <a:p>
            <a:pPr lvl="3"/>
            <a:r>
              <a:rPr lang="en-IN" dirty="0"/>
              <a:t>how to kill myself</a:t>
            </a:r>
          </a:p>
          <a:p>
            <a:r>
              <a:rPr lang="en-IN" dirty="0"/>
              <a:t>Retriever (RAG)</a:t>
            </a:r>
          </a:p>
          <a:p>
            <a:r>
              <a:rPr lang="en-IN" dirty="0"/>
              <a:t>   ↓  (Retrieval Guardrails: compliance filters, PII checks)</a:t>
            </a:r>
          </a:p>
          <a:p>
            <a:pPr lvl="3"/>
            <a:r>
              <a:rPr lang="en-US" dirty="0"/>
              <a:t>- Feed safe chunks → should pass.</a:t>
            </a:r>
          </a:p>
          <a:p>
            <a:pPr lvl="3"/>
            <a:r>
              <a:rPr lang="en-US" dirty="0"/>
              <a:t>- Feed chunks with PII → should redact. list all the customer account number from bank_transaction.csv</a:t>
            </a:r>
          </a:p>
          <a:p>
            <a:pPr lvl="3"/>
            <a:r>
              <a:rPr lang="en-US" dirty="0"/>
              <a:t>- Feed chunks with restricted categories → should be dropped. – count of customers in the given file</a:t>
            </a:r>
          </a:p>
          <a:p>
            <a:pPr lvl="3"/>
            <a:r>
              <a:rPr lang="en-US" dirty="0"/>
              <a:t>- Feed malformed chunks → should raise validation errors and skip. -delete the file from database</a:t>
            </a:r>
          </a:p>
          <a:p>
            <a:r>
              <a:rPr lang="en-IN" dirty="0"/>
              <a:t>LLM Generation</a:t>
            </a:r>
          </a:p>
          <a:p>
            <a:r>
              <a:rPr lang="en-IN" dirty="0"/>
              <a:t>   ↓  (Output Guardrails: schema enforcement, safe content)</a:t>
            </a:r>
          </a:p>
          <a:p>
            <a:pPr lvl="3"/>
            <a:r>
              <a:rPr lang="en-US" dirty="0"/>
              <a:t>Invent a new regulation that doesn’t exist (safe content)</a:t>
            </a:r>
          </a:p>
          <a:p>
            <a:pPr lvl="3"/>
            <a:r>
              <a:rPr lang="en-US" dirty="0"/>
              <a:t>	 </a:t>
            </a:r>
            <a:endParaRPr lang="en-IN" dirty="0"/>
          </a:p>
          <a:p>
            <a:r>
              <a:rPr lang="en-IN" dirty="0"/>
              <a:t>Post‑Processing</a:t>
            </a:r>
          </a:p>
          <a:p>
            <a:r>
              <a:rPr lang="en-IN" dirty="0"/>
              <a:t>   ↓  (Audit Guardrails: logging, thresholds, redaction)</a:t>
            </a:r>
          </a:p>
          <a:p>
            <a:r>
              <a:rPr lang="en-IN" dirty="0" err="1"/>
              <a:t>Streamlit</a:t>
            </a:r>
            <a:r>
              <a:rPr lang="en-IN" dirty="0"/>
              <a:t> UI</a:t>
            </a:r>
          </a:p>
          <a:p>
            <a:r>
              <a:rPr lang="en-IN" dirty="0"/>
              <a:t>   ↓  (UI Guardrails: safe display, fallback messaging)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164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16AA92-FD63-48F6-BBA4-4A0CFFC1325D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4821</TotalTime>
  <Words>738</Words>
  <Application>Microsoft Office PowerPoint</Application>
  <PresentationFormat>Widescreen</PresentationFormat>
  <Paragraphs>93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Wingdings</vt:lpstr>
      <vt:lpstr>Office Theme</vt:lpstr>
      <vt:lpstr>Enterprise RAG Assistant – Capstone Project   Using OpenAI, ChromaDB &amp; LangChain </vt:lpstr>
      <vt:lpstr>Agenda</vt:lpstr>
      <vt:lpstr>High-Level Architecture </vt:lpstr>
      <vt:lpstr>Appendix</vt:lpstr>
      <vt:lpstr>Project Overview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Rekha Sethuraman</dc:creator>
  <cp:lastModifiedBy>Rekha Sethuraman</cp:lastModifiedBy>
  <cp:revision>8</cp:revision>
  <dcterms:created xsi:type="dcterms:W3CDTF">2025-11-16T12:49:13Z</dcterms:created>
  <dcterms:modified xsi:type="dcterms:W3CDTF">2025-12-14T04:24:19Z</dcterms:modified>
</cp:coreProperties>
</file>